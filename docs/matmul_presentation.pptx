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Matrix 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93C5FD"/>
                </a:solidFill>
                <a:latin typeface="Calibri"/>
              </a:defRPr>
            </a:pPr>
            <a:r>
              <a:t>Down the Rabbit Hole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journey through GPU GEMM optimization — from naive to blazing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SGEMM  |  CUDA  |  Memory Coalescing  |  Shared Memory  |  Tensor Cores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Calibri"/>
              </a:defRPr>
            </a:pPr>
            <a:r>
              <a:t>What is GEMM?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40AF"/>
                </a:solidFill>
                <a:latin typeface="Calibri"/>
              </a:defRPr>
            </a:pPr>
            <a:r>
              <a:t>General Matrix Multiply:  C = α(A × B) + βC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The workhorse of deep learning — every linear layer, attention head, and convolution is a GEMM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A is M×K, B is K×N, C is M×N — billions of multiply-add operations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GPUs have thousands of cores — perfect for this embarrassingly parallel problem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But getting peak performance requires understanding the hardware deeply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54864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200"/>
              </a:spcAft>
              <a:defRPr sz="1800">
                <a:solidFill>
                  <a:srgbClr val="E2E8F0"/>
                </a:solidFill>
                <a:latin typeface="Courier New"/>
              </a:defRPr>
            </a:pPr>
            <a:r>
              <a:t>for (int k = 0; k &lt; K; ++k)</a:t>
            </a:r>
          </a:p>
          <a:p>
            <a:pPr>
              <a:spcAft>
                <a:spcPts val="200"/>
              </a:spcAft>
              <a:defRPr sz="1800">
                <a:solidFill>
                  <a:srgbClr val="E2E8F0"/>
                </a:solidFill>
                <a:latin typeface="Courier New"/>
              </a:defRPr>
            </a:pPr>
            <a:r>
              <a:t>    C[i][j] += A[i][k] * B[k][j];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754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Each thread computes one element of C</a:t>
            </a:r>
            <a:br/>
            <a:r>
              <a:t>by walking along the shared K dimension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Calibri"/>
              </a:defRPr>
            </a:pPr>
            <a:r>
              <a:t>GPU Execution Model: Threads, Warps &amp;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Thread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Grid → Blocks → Threads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Threads are grouped into Warps (32 threads)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All threads in a warp execute in lockstep (SIMT)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threadIdx.x changes fastest across a warp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Adjacent threads = consecutive threadIdx.x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Memory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Registers — per thread, fastest (~0 cycles)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Shared Memory — per block, ~5 cycles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Global Memory (DRAM) — ~400-600 cycles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DRAM serves data in 32-byte transactions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Wasted bytes in a transaction = wasted bandwidth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51560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>
                <a:solidFill>
                  <a:srgbClr val="1E40AF"/>
                </a:solidFill>
                <a:latin typeface="Calibri"/>
              </a:defRPr>
            </a:pPr>
            <a:r>
              <a:t>💡  Key Insight: When adjacent threads (in the same warp) access adjacent memory addresses, the GPU can combine these into a single DRAM transaction. This is called memory coalescing — it is the #1 performance factor for memory-bound kernels.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Calibri"/>
              </a:defRPr>
            </a:pPr>
            <a:r>
              <a:t>Stage 0: The Naive Kernel (Anti-Pattern)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2626"/>
                </a:solidFill>
                <a:latin typeface="Calibri"/>
              </a:defRPr>
            </a:pPr>
            <a:r>
              <a:t>The most intuitive mapping — but it destroys memory bandwidth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400800" cy="3840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__global__ void sgemm_uncoalesced(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  int M, int N, int K, float alpha,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  const float *A, const float *B,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  float beta, float *C)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// threadIdx.x -&gt; row (i), threadIdx.y -&gt; col (j)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const uint i = blockIdx.x * blockDim.x + threadIdx.x;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const uint j = blockIdx.y * blockDim.y + threadIdx.y;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if (i &lt; M &amp;&amp; j &lt; N) {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  float tmp = 0.0;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  for (int k = 0; k &lt; K; ++k)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    tmp += A[i * K + k] * B[k * N + j];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  C[i * N + j] = alpha * tmp + beta * C[i * N + j];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What goes wrong?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74747"/>
                </a:solidFill>
                <a:latin typeface="Calibri"/>
              </a:defRPr>
            </a:pPr>
            <a:r>
              <a:t>•  threadIdx.x maps to row i</a:t>
            </a:r>
          </a:p>
          <a:p>
            <a:pPr>
              <a:spcAft>
                <a:spcPts val="1400"/>
              </a:spcAft>
              <a:defRPr sz="1600">
                <a:solidFill>
                  <a:srgbClr val="474747"/>
                </a:solidFill>
                <a:latin typeface="Calibri"/>
              </a:defRPr>
            </a:pPr>
            <a:r>
              <a:t>•  Adjacent threads in a warp</a:t>
            </a:r>
            <a:br/>
            <a:r>
              <a:t>   have different i values</a:t>
            </a:r>
          </a:p>
          <a:p>
            <a:pPr>
              <a:spcAft>
                <a:spcPts val="1400"/>
              </a:spcAft>
              <a:defRPr sz="1600">
                <a:solidFill>
                  <a:srgbClr val="474747"/>
                </a:solidFill>
                <a:latin typeface="Calibri"/>
              </a:defRPr>
            </a:pPr>
            <a:r>
              <a:t>•  A[i*K+k]: adjacent threads</a:t>
            </a:r>
            <a:br/>
            <a:r>
              <a:t>   access different rows → strided!</a:t>
            </a:r>
          </a:p>
          <a:p>
            <a:pPr>
              <a:spcAft>
                <a:spcPts val="1400"/>
              </a:spcAft>
              <a:defRPr sz="1600">
                <a:solidFill>
                  <a:srgbClr val="474747"/>
                </a:solidFill>
                <a:latin typeface="Calibri"/>
              </a:defRPr>
            </a:pPr>
            <a:r>
              <a:t>•  B[k*N+j]: j is constant within</a:t>
            </a:r>
            <a:br/>
            <a:r>
              <a:t>   the warp → broadcast (1 value)</a:t>
            </a:r>
          </a:p>
          <a:p>
            <a:pPr>
              <a:spcAft>
                <a:spcPts val="1400"/>
              </a:spcAft>
              <a:defRPr sz="1600">
                <a:solidFill>
                  <a:srgbClr val="474747"/>
                </a:solidFill>
                <a:latin typeface="Calibri"/>
              </a:defRPr>
            </a:pPr>
            <a:r>
              <a:t>•  C[i*N+j]: writes are strided too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Calibri"/>
              </a:defRPr>
            </a:pPr>
            <a:r>
              <a:t>Row-Major Memory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4747"/>
                </a:solidFill>
                <a:latin typeface="Calibri"/>
              </a:defRPr>
            </a:pPr>
            <a:r>
              <a:t>A 2D matrix is stored as a flat 1D array in DRAM — row after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Logical 2D View (4×4):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475488" cy="47548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[0,0]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468880"/>
            <a:ext cx="475488" cy="47548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[0,1]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468880"/>
            <a:ext cx="475488" cy="47548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[0,2]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468880"/>
            <a:ext cx="475488" cy="47548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[0,3]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475488" cy="47548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[1,0]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3017520"/>
            <a:ext cx="475488" cy="47548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[1,1]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017520"/>
            <a:ext cx="475488" cy="47548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[1,2]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017520"/>
            <a:ext cx="475488" cy="47548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[1,3]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66160"/>
            <a:ext cx="475488" cy="47548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[2,0]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3566160"/>
            <a:ext cx="475488" cy="47548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[2,1]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3566160"/>
            <a:ext cx="475488" cy="47548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[2,2]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566160"/>
            <a:ext cx="475488" cy="47548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[2,3]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14800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[3,0]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4114800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[3,1]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114800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[3,2]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114800"/>
            <a:ext cx="475488" cy="47548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[3,3]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64748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Physical 1D Layout in DRAM: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560320"/>
            <a:ext cx="402336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10912" y="2560320"/>
            <a:ext cx="402336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9824" y="2560320"/>
            <a:ext cx="402336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88736" y="2560320"/>
            <a:ext cx="402336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2560320"/>
            <a:ext cx="402336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2560320"/>
            <a:ext cx="402336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5472" y="2560320"/>
            <a:ext cx="402336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44383" y="2560320"/>
            <a:ext cx="402336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2560320"/>
            <a:ext cx="402336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22208" y="2560320"/>
            <a:ext cx="402336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2560320"/>
            <a:ext cx="402336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00032" y="2560320"/>
            <a:ext cx="402336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2560320"/>
            <a:ext cx="402336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77856" y="2560320"/>
            <a:ext cx="402336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16767" y="2560320"/>
            <a:ext cx="402336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155680" y="2560320"/>
            <a:ext cx="402336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15468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urier New"/>
              </a:defRPr>
            </a:pPr>
            <a:r>
              <a:t>addr: 0  1  2  3  4  5  6  7  8  9  10 11 12 13 14 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40AF"/>
                </a:solidFill>
                <a:latin typeface="Courier New"/>
              </a:defRPr>
            </a:pPr>
            <a:r>
              <a:t>Indexing formula:   A[row][col]  →  A[row * NUM_COLS + col]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Elements in the same row are contiguous in memory (addresses differ by 1)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Elements in the same column are far apart (addresses differ by NUM_COLS)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Accessing a column = strided access = multiple DRAM transactions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Calibri"/>
              </a:defRPr>
            </a:pPr>
            <a:r>
              <a:t>Uncoalesced Access Pattern (Naive Kernel)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threadIdx.x → row (i)  |  A warp of 4 threads accesses 4 different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Matrix A  (reading column k=0)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41148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286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2286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2286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2286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2286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41148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7432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27432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03120" y="27432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60320" y="27432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17520" y="27432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200400"/>
            <a:ext cx="411480" cy="41148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2004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45920" y="32004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03120" y="32004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0320" y="32004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17520" y="32004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411480" cy="41148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36576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45920" y="36576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03120" y="36576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36576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17520" y="36576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1148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88720" y="41148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45920" y="41148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03120" y="41148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560320" y="41148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017520" y="41148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4572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8720" y="4572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645920" y="4572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103120" y="4572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60320" y="4572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017520" y="4572000"/>
            <a:ext cx="411480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64748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A in DRAM (row-major) — threads touch scattered locations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0" y="2377440"/>
            <a:ext cx="164592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1208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9496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57784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6072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26480" y="2377440"/>
            <a:ext cx="164592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0936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9224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67512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85800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04088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223760" y="2377440"/>
            <a:ext cx="164592" cy="45720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40664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58952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77240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955279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3816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321040" y="2377440"/>
            <a:ext cx="164592" cy="45720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50392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68680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86968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05256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23544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41832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60120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78408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96696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14984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33272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51560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69848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88136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106424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124712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430000" y="2377440"/>
            <a:ext cx="164592" cy="457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8348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T0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8076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97316"/>
                </a:solidFill>
                <a:latin typeface="Calibri"/>
              </a:defRPr>
            </a:pPr>
            <a:r>
              <a:t>T1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78040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AB308"/>
                </a:solidFill>
                <a:latin typeface="Calibri"/>
              </a:defRPr>
            </a:pPr>
            <a:r>
              <a:t>T2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75319" y="2926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4CC16"/>
                </a:solidFill>
                <a:latin typeface="Calibri"/>
              </a:defRPr>
            </a:pPr>
            <a:r>
              <a:t>T3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0" y="3383280"/>
            <a:ext cx="6400800" cy="64008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400" b="1">
                <a:solidFill>
                  <a:srgbClr val="991B1B"/>
                </a:solidFill>
                <a:latin typeface="Calibri"/>
              </a:defRPr>
            </a:pPr>
            <a:r>
              <a:t>Stride = K = 6 floats apart → each access hits a different 32-byte cache line → 4 DRAM transactions for 4 floats!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Calibri"/>
              </a:defRPr>
            </a:pPr>
            <a:r>
              <a:t>Bus Efficiency: 25%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5120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Only 4 useful bytes out of every 32-byte transaction are used.</a:t>
            </a:r>
            <a:br/>
            <a:r>
              <a:t>We pay for 128 bytes of DRAM bandwidth but only need 16 bytes.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Calibri"/>
              </a:defRPr>
            </a:pPr>
            <a:r>
              <a:t>The Fix: Swap the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6534"/>
                </a:solidFill>
                <a:latin typeface="Calibri"/>
              </a:defRPr>
            </a:pPr>
            <a:r>
              <a:t>One line change — massive performance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18288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❌  Uncoalesced (Naive)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45720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// threadIdx.x -&gt; row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i = blockIdx.x * blockDim.x + threadIdx.x;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j = blockIdx.y * blockDim.y + threadIdx.y;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18288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6534"/>
                </a:solidFill>
                <a:latin typeface="Calibri"/>
              </a:defRPr>
            </a:pPr>
            <a:r>
              <a:t>✅  Coalesced (Fixed)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560320"/>
            <a:ext cx="45720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// threadIdx.x -&gt; column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j = blockIdx.x * blockDim.x + threadIdx.x;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urier New"/>
              </a:defRPr>
            </a:pPr>
            <a:r>
              <a:t>i = blockIdx.y * blockDim.y + threadIdx.y;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Matrix B access: B[k*N + j]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2626"/>
                </a:solidFill>
                <a:latin typeface="Calibri"/>
              </a:defRPr>
            </a:pPr>
            <a:r>
              <a:t>Naive: j is constant → broadcast (1 value)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2416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97864" y="4937760"/>
            <a:ext cx="13716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5331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0876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6420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19656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75104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3055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8600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4144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96896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52344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0779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6324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1868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74136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29584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8503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4048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9592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51376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06824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6227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1772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7316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928616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84064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3951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9496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55040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663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66534"/>
                </a:solidFill>
                <a:latin typeface="Calibri"/>
              </a:defRPr>
            </a:pPr>
            <a:r>
              <a:t>Fixed: j varies with threadIdx.x → consecutive addresses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937760"/>
            <a:ext cx="137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56248" y="4937760"/>
            <a:ext cx="137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711696" y="4937760"/>
            <a:ext cx="137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67144" y="4937760"/>
            <a:ext cx="137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02259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17804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3348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488936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644383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799831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955279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11072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66175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421624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57707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73252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88796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43416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98864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35431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50976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66520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820656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976104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13155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28700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44244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597896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753344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908792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064240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1219688" y="4937760"/>
            <a:ext cx="137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6534"/>
                </a:solidFill>
                <a:latin typeface="Calibri"/>
              </a:defRPr>
            </a:pPr>
            <a:r>
              <a:t>Result: Bus efficiency goes from 25% → 100% for B reads. One-line fix, huge speedup.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Calibri"/>
              </a:defRPr>
            </a:pPr>
            <a:r>
              <a:t>DRAM Transactions: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2860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7472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Uncoalesced (Naive)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7472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Coalesced (Fixed)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28600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A read pattern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74519"/>
            <a:ext cx="347472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Strided (each thread hits</a:t>
            </a:r>
            <a:br/>
            <a:r>
              <a:t>a different cache line)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74519"/>
            <a:ext cx="347472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Broadcast (all threads read</a:t>
            </a:r>
            <a:br/>
            <a:r>
              <a:t>same element → 1 transaction)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87752"/>
            <a:ext cx="2286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B read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87752"/>
            <a:ext cx="3474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Broadcast (all threads read</a:t>
            </a:r>
            <a:br/>
            <a:r>
              <a:t>same element → 1 transaction)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587752"/>
            <a:ext cx="3474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Coalesced (adjacent threads</a:t>
            </a:r>
            <a:br/>
            <a:r>
              <a:t>read adjacent addresses → 1 txn)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00984"/>
            <a:ext cx="228600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C write pattern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300984"/>
            <a:ext cx="347472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Strided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300984"/>
            <a:ext cx="347472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Coalesced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14215"/>
            <a:ext cx="2286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Transactions per</a:t>
            </a:r>
            <a:br/>
            <a:r>
              <a:t>warp per k-step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014215"/>
            <a:ext cx="3474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~5 (strided A + broadcast 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014215"/>
            <a:ext cx="3474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2 (broadcast A + coalesced 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27448"/>
            <a:ext cx="228600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Useful bytes /</a:t>
            </a:r>
            <a:br/>
            <a:r>
              <a:t>total bytes moved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727448"/>
            <a:ext cx="347472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16B / 128B = 12.5%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27448"/>
            <a:ext cx="347472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200">
                <a:solidFill>
                  <a:srgbClr val="333333"/>
                </a:solidFill>
                <a:latin typeface="Calibri"/>
              </a:defRPr>
            </a:pPr>
            <a:r>
              <a:t>16B / 64B = 25-50%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40680"/>
            <a:ext cx="2286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Bus Efficiency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5440680"/>
            <a:ext cx="3474720" cy="6400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991B1B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440680"/>
            <a:ext cx="3474720" cy="6400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166534"/>
                </a:solidFill>
                <a:latin typeface="Calibri"/>
              </a:defRPr>
            </a:pPr>
            <a:r>
              <a:t>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Calibri"/>
              </a:defRPr>
            </a:pPr>
            <a:r>
              <a:t>Why Does This Matter?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1148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The Naive Kernel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7F1D1D"/>
                </a:solidFill>
                <a:latin typeface="Calibri"/>
              </a:defRPr>
            </a:pPr>
            <a:r>
              <a:t>•  Strided access → each thread triggers its own</a:t>
            </a:r>
            <a:br/>
            <a:r>
              <a:t>   DRAM transaction (32B each)</a:t>
            </a:r>
          </a:p>
          <a:p>
            <a:pPr>
              <a:spcAft>
                <a:spcPts val="1400"/>
              </a:spcAft>
              <a:defRPr sz="1600">
                <a:solidFill>
                  <a:srgbClr val="7F1D1D"/>
                </a:solidFill>
                <a:latin typeface="Calibri"/>
              </a:defRPr>
            </a:pPr>
            <a:r>
              <a:t>•  A 32-thread warp needing 32 floats (128B)</a:t>
            </a:r>
            <a:br/>
            <a:r>
              <a:t>   may cause up to 32 transactions = 1024B moved</a:t>
            </a:r>
          </a:p>
          <a:p>
            <a:pPr>
              <a:spcAft>
                <a:spcPts val="1400"/>
              </a:spcAft>
              <a:defRPr sz="1600">
                <a:solidFill>
                  <a:srgbClr val="7F1D1D"/>
                </a:solidFill>
                <a:latin typeface="Calibri"/>
              </a:defRPr>
            </a:pPr>
            <a:r>
              <a:t>•  That is 8× more data moved than needed</a:t>
            </a:r>
          </a:p>
          <a:p>
            <a:pPr>
              <a:spcAft>
                <a:spcPts val="1400"/>
              </a:spcAft>
              <a:defRPr sz="1600">
                <a:solidFill>
                  <a:srgbClr val="7F1D1D"/>
                </a:solidFill>
                <a:latin typeface="Calibri"/>
              </a:defRPr>
            </a:pPr>
            <a:r>
              <a:t>•  Memory bus becomes the bottleneck</a:t>
            </a:r>
            <a:br/>
            <a:r>
              <a:t>   long before compute is saturated</a:t>
            </a:r>
          </a:p>
          <a:p>
            <a:pPr>
              <a:spcAft>
                <a:spcPts val="1400"/>
              </a:spcAft>
              <a:defRPr sz="1600">
                <a:solidFill>
                  <a:srgbClr val="7F1D1D"/>
                </a:solidFill>
                <a:latin typeface="Calibri"/>
              </a:defRPr>
            </a:pPr>
            <a:r>
              <a:t>•  GPU cores sit idle waiting for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6534"/>
                </a:solidFill>
                <a:latin typeface="Calibri"/>
              </a:defRPr>
            </a:pPr>
            <a:r>
              <a:t>After Coalescing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4532D"/>
                </a:solidFill>
                <a:latin typeface="Calibri"/>
              </a:defRPr>
            </a:pPr>
            <a:r>
              <a:t>•  Adjacent threads → adjacent addresses</a:t>
            </a:r>
            <a:br/>
            <a:r>
              <a:t>   → single DRAM transaction</a:t>
            </a:r>
          </a:p>
          <a:p>
            <a:pPr>
              <a:spcAft>
                <a:spcPts val="1400"/>
              </a:spcAft>
              <a:defRPr sz="1600">
                <a:solidFill>
                  <a:srgbClr val="14532D"/>
                </a:solidFill>
                <a:latin typeface="Calibri"/>
              </a:defRPr>
            </a:pPr>
            <a:r>
              <a:t>•  32 threads needing 32 floats = 128B</a:t>
            </a:r>
            <a:br/>
            <a:r>
              <a:t>   = only 4 transactions (perfectly packed)</a:t>
            </a:r>
          </a:p>
          <a:p>
            <a:pPr>
              <a:spcAft>
                <a:spcPts val="1400"/>
              </a:spcAft>
              <a:defRPr sz="1600">
                <a:solidFill>
                  <a:srgbClr val="14532D"/>
                </a:solidFill>
                <a:latin typeface="Calibri"/>
              </a:defRPr>
            </a:pPr>
            <a:r>
              <a:t>•  4× to 8× bandwidth improvement</a:t>
            </a:r>
          </a:p>
          <a:p>
            <a:pPr>
              <a:spcAft>
                <a:spcPts val="1400"/>
              </a:spcAft>
              <a:defRPr sz="1600">
                <a:solidFill>
                  <a:srgbClr val="14532D"/>
                </a:solidFill>
                <a:latin typeface="Calibri"/>
              </a:defRPr>
            </a:pPr>
            <a:r>
              <a:t>•  This alone can mean 2×-10× speedup</a:t>
            </a:r>
            <a:br/>
            <a:r>
              <a:t>   depending on the kernel</a:t>
            </a:r>
          </a:p>
          <a:p>
            <a:pPr>
              <a:spcAft>
                <a:spcPts val="1400"/>
              </a:spcAft>
              <a:defRPr sz="1600">
                <a:solidFill>
                  <a:srgbClr val="14532D"/>
                </a:solidFill>
                <a:latin typeface="Calibri"/>
              </a:defRPr>
            </a:pPr>
            <a:r>
              <a:t>•  Still just the first step —</a:t>
            </a:r>
            <a:br/>
            <a:r>
              <a:t>   much more optimization ahead!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Rule #1 of GPU Programming: Always coalesce your memory accesses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Optimization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4884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Naive (Uncoalesced)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The anti-pattern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03320" y="214884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Coalesced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Swap i/j mapping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60" y="214884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Shared Memory Tiling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Reduce global memory traffic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01168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72600" y="214884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Register Tiling (1D)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More work per thread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25196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Register Tiling (2D)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8×8 output per thread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11480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03320" y="42519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Vectorized (float4)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128-bit wide loads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11480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7960" y="425196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Tensor Cores (WMMA)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Hardware matrix units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We just covered stages 0 &amp; 1  —  stay tuned for the rest of the journey!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